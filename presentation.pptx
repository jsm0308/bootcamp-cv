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4400" b="1">
                <a:solidFill>
                  <a:srgbClr val="FFFFFF"/>
                </a:solidFill>
              </a:defRPr>
            </a:pPr>
            <a:r>
              <a:t>1차 과제 결과 보고서</a:t>
            </a:r>
          </a:p>
          <a:p>
            <a:pPr>
              <a:defRPr sz="2600" b="0">
                <a:solidFill>
                  <a:srgbClr val="BBBBBB"/>
                </a:solidFill>
              </a:defRPr>
            </a:pPr>
            <a:r>
              <a:t>Git 기반 협업 &amp; 픽셀 단위 이미지 처리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800" b="0">
                <a:solidFill>
                  <a:srgbClr val="999999"/>
                </a:solidFill>
              </a:defRPr>
            </a:pPr>
            <a:r>
              <a:t>코멘토 직무부트캠프 Computer Vision</a:t>
            </a:r>
          </a:p>
          <a:p>
            <a:pPr>
              <a:defRPr sz="1800" b="0">
                <a:solidFill>
                  <a:srgbClr val="999999"/>
                </a:solidFill>
              </a:defRPr>
            </a:pPr>
            <a:r>
              <a:t>베어곰 멘토  |  2026.07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449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3800" b="1">
                <a:solidFill>
                  <a:srgbClr val="FFFFFF"/>
                </a:solidFill>
              </a:defRPr>
            </a:pPr>
            <a:r>
              <a:t>Part 1. Git 브랜치 전략 &amp; 코드 관리</a:t>
            </a:r>
          </a:p>
          <a:p>
            <a:pPr>
              <a:defRPr sz="2200" b="0">
                <a:solidFill>
                  <a:srgbClr val="BBBBBB"/>
                </a:solidFill>
              </a:defRPr>
            </a:pPr>
            <a:r>
              <a:t>Git Flow · Branch · PR · Merge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333333"/>
                </a:solidFill>
              </a:defRPr>
            </a:pPr>
            <a:r>
              <a:t>Git 워크플로우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0">
                <a:solidFill>
                  <a:srgbClr val="333333"/>
                </a:solidFill>
              </a:defRPr>
            </a:pPr>
            <a:r>
              <a:t>[저장소] jsm0308/Bootcamp-CV</a:t>
            </a:r>
          </a:p>
          <a:p>
            <a:pPr>
              <a:defRPr sz="2000" b="0">
                <a:solidFill>
                  <a:srgbClr val="333333"/>
                </a:solidFill>
              </a:defRPr>
            </a:pPr>
            <a:r>
              <a:t>[브랜치] feature/image-processing -&gt; PR -&gt; main 병합</a:t>
            </a:r>
          </a:p>
          <a:p>
            <a:pPr>
              <a:defRPr sz="1000" b="0">
                <a:solidFill>
                  <a:srgbClr val="333333"/>
                </a:solidFill>
              </a:defRPr>
            </a:pPr>
          </a:p>
          <a:p>
            <a:pPr>
              <a:defRPr sz="2200" b="1">
                <a:solidFill>
                  <a:srgbClr val="333333"/>
                </a:solidFill>
              </a:defRPr>
            </a:pPr>
            <a:r>
              <a:t>사용한 명령어</a:t>
            </a:r>
          </a:p>
          <a:p>
            <a:pPr>
              <a:defRPr sz="1800" b="0">
                <a:solidFill>
                  <a:srgbClr val="555555"/>
                </a:solidFill>
              </a:defRPr>
            </a:pPr>
            <a:r>
              <a:t>  git branch feature/image-processing</a:t>
            </a:r>
          </a:p>
          <a:p>
            <a:pPr>
              <a:defRPr sz="1800" b="0">
                <a:solidFill>
                  <a:srgbClr val="555555"/>
                </a:solidFill>
              </a:defRPr>
            </a:pPr>
            <a:r>
              <a:t>  git checkout feature/image-processing</a:t>
            </a:r>
          </a:p>
          <a:p>
            <a:pPr>
              <a:defRPr sz="1800" b="0">
                <a:solidFill>
                  <a:srgbClr val="555555"/>
                </a:solidFill>
              </a:defRPr>
            </a:pPr>
            <a:r>
              <a:t>  git add &lt;file&gt;</a:t>
            </a:r>
          </a:p>
          <a:p>
            <a:pPr>
              <a:defRPr sz="1800" b="0">
                <a:solidFill>
                  <a:srgbClr val="555555"/>
                </a:solidFill>
              </a:defRPr>
            </a:pPr>
            <a:r>
              <a:t>  git commit -m "message"</a:t>
            </a:r>
          </a:p>
          <a:p>
            <a:pPr>
              <a:defRPr sz="1800" b="0">
                <a:solidFill>
                  <a:srgbClr val="555555"/>
                </a:solidFill>
              </a:defRPr>
            </a:pPr>
            <a:r>
              <a:t>  git push origin feature/image-processing</a:t>
            </a:r>
          </a:p>
          <a:p>
            <a:pPr>
              <a:defRPr sz="1000" b="0">
                <a:solidFill>
                  <a:srgbClr val="333333"/>
                </a:solidFill>
              </a:defRPr>
            </a:pPr>
          </a:p>
          <a:p>
            <a:pPr>
              <a:defRPr sz="2000" b="0">
                <a:solidFill>
                  <a:srgbClr val="27AE60"/>
                </a:solidFill>
              </a:defRPr>
            </a:pPr>
            <a:r>
              <a:t>[결과] PR 생성 -&gt; Fast-forward merge 완료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333333"/>
                </a:solidFill>
              </a:defRPr>
            </a:pPr>
            <a:r>
              <a:t>프로젝트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33333"/>
                </a:solidFill>
              </a:defRPr>
            </a:pPr>
            <a:r>
              <a:t>week 1/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├── requirements.txt          &lt;- 공통 패키지</a:t>
            </a:r>
          </a:p>
          <a:p>
            <a:pPr>
              <a:defRPr sz="1700" b="1">
                <a:solidFill>
                  <a:srgbClr val="333333"/>
                </a:solidFill>
              </a:defRPr>
            </a:pPr>
            <a:r>
              <a:t>├── git/                      &lt;- 핵심 과제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│   ├── red.py                 # HSV 빨간색 검출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│   └── red_filtered.jpg       # 결과물</a:t>
            </a:r>
          </a:p>
          <a:p>
            <a:pPr>
              <a:defRPr sz="1700" b="1">
                <a:solidFill>
                  <a:srgbClr val="333333"/>
                </a:solidFill>
              </a:defRPr>
            </a:pPr>
            <a:r>
              <a:t>└── huggingface/              &lt;- 추가 과제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├── dataset.py             # Food101 + pandas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├── image_preprocessing.py # 전처리 파이프라인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├── data/                  # 원본 5장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└── preprocessed_samples/  # 전처리+증강 20장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449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3800" b="1">
                <a:solidFill>
                  <a:srgbClr val="FFFFFF"/>
                </a:solidFill>
              </a:defRPr>
            </a:pPr>
            <a:r>
              <a:t>Part 2. OpenCV 픽셀 처리</a:t>
            </a:r>
          </a:p>
          <a:p>
            <a:pPr>
              <a:defRPr sz="2200" b="0">
                <a:solidFill>
                  <a:srgbClr val="BBBBBB"/>
                </a:solidFill>
              </a:defRPr>
            </a:pPr>
            <a:r>
              <a:t>HSV 색상 공간 · 빨간색(Red) 영역 검출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333333"/>
                </a:solidFill>
              </a:defRPr>
            </a:pPr>
            <a:r>
              <a:t>왜 HSV인가?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0">
                <a:solidFill>
                  <a:srgbClr val="333333"/>
                </a:solidFill>
              </a:defRPr>
            </a:pPr>
            <a:r>
              <a:t>RGB는 조명 변화에 민감. HSV는 Hue/Saturation/Value를 분리하여 조명 변화에 강함.</a:t>
            </a:r>
          </a:p>
          <a:p>
            <a:pPr>
              <a:defRPr sz="800" b="0">
                <a:solidFill>
                  <a:srgbClr val="333333"/>
                </a:solidFill>
              </a:defRPr>
            </a:pPr>
          </a:p>
          <a:p>
            <a:pPr>
              <a:defRPr sz="2000" b="1">
                <a:solidFill>
                  <a:srgbClr val="333333"/>
                </a:solidFill>
              </a:defRPr>
            </a:pPr>
            <a:r>
              <a:t>빨간색은 HSV 0도 와 180도 경계에 걸려 있으므로 두 범위를 합쳐야 함.</a:t>
            </a:r>
          </a:p>
          <a:p>
            <a:pPr>
              <a:defRPr sz="800" b="0">
                <a:solidFill>
                  <a:srgbClr val="333333"/>
                </a:solidFill>
              </a:defRPr>
            </a:pPr>
          </a:p>
          <a:p>
            <a:pPr>
              <a:defRPr sz="1800" b="0">
                <a:solidFill>
                  <a:srgbClr val="C0392B"/>
                </a:solidFill>
              </a:defRPr>
            </a:pPr>
            <a:r>
              <a:t>Lower Red 1: [0, 120, 70]  -&gt;  Upper Red 1: [10, 255, 255]</a:t>
            </a:r>
          </a:p>
          <a:p>
            <a:pPr>
              <a:defRPr sz="1800" b="0">
                <a:solidFill>
                  <a:srgbClr val="C0392B"/>
                </a:solidFill>
              </a:defRPr>
            </a:pPr>
            <a:r>
              <a:t>Lower Red 2: [170, 120, 70] -&gt; Upper Red 2: [180, 255, 255]</a:t>
            </a:r>
          </a:p>
          <a:p>
            <a:pPr>
              <a:defRPr sz="800" b="0">
                <a:solidFill>
                  <a:srgbClr val="333333"/>
                </a:solidFill>
              </a:defRPr>
            </a:pPr>
          </a:p>
          <a:p>
            <a:pPr>
              <a:defRPr sz="1800" b="0">
                <a:solidFill>
                  <a:srgbClr val="E74C3C"/>
                </a:solidFill>
              </a:defRPr>
            </a:pPr>
            <a:r>
              <a:t>mask1 + mask2 대신 cv2.bitwise_or() 사용 (uint8 overflow 방지)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333333"/>
                </a:solidFill>
              </a:defRPr>
            </a:pPr>
            <a:r>
              <a:t>코드 (red.py)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700" b="0">
                <a:solidFill>
                  <a:srgbClr val="444444"/>
                </a:solidFill>
              </a:defRPr>
            </a:pPr>
            <a:r>
              <a:t>import cv2, numpy as np</a:t>
            </a:r>
          </a:p>
          <a:p>
            <a:pPr>
              <a:defRPr sz="1700" b="0">
                <a:solidFill>
                  <a:srgbClr val="444444"/>
                </a:solidFill>
              </a:defRPr>
            </a:pPr>
            <a:r>
              <a:t>image = cv2.imread('sample.jpg')</a:t>
            </a:r>
          </a:p>
          <a:p>
            <a:pPr>
              <a:defRPr sz="1700" b="0">
                <a:solidFill>
                  <a:srgbClr val="444444"/>
                </a:solidFill>
              </a:defRPr>
            </a:pPr>
            <a:r>
              <a:t>hsv = cv2.cvtColor(image, cv2.COLOR_BGR2HSV)</a:t>
            </a:r>
          </a:p>
          <a:p>
            <a:pPr>
              <a:defRPr sz="1700" b="0">
                <a:solidFill>
                  <a:srgbClr val="444444"/>
                </a:solidFill>
              </a:defRPr>
            </a:pPr>
          </a:p>
          <a:p>
            <a:pPr>
              <a:defRPr sz="1700" b="0">
                <a:solidFill>
                  <a:srgbClr val="444444"/>
                </a:solidFill>
              </a:defRPr>
            </a:pPr>
            <a:r>
              <a:t>lower_red1 = np.array([0, 120, 70])</a:t>
            </a:r>
          </a:p>
          <a:p>
            <a:pPr>
              <a:defRPr sz="1700" b="0">
                <a:solidFill>
                  <a:srgbClr val="444444"/>
                </a:solidFill>
              </a:defRPr>
            </a:pPr>
            <a:r>
              <a:t>upper_red1 = np.array([10, 255, 255])</a:t>
            </a:r>
          </a:p>
          <a:p>
            <a:pPr>
              <a:defRPr sz="1700" b="0">
                <a:solidFill>
                  <a:srgbClr val="444444"/>
                </a:solidFill>
              </a:defRPr>
            </a:pPr>
            <a:r>
              <a:t>lower_red2 = np.array([170, 120, 70])</a:t>
            </a:r>
          </a:p>
          <a:p>
            <a:pPr>
              <a:defRPr sz="1700" b="0">
                <a:solidFill>
                  <a:srgbClr val="444444"/>
                </a:solidFill>
              </a:defRPr>
            </a:pPr>
            <a:r>
              <a:t>upper_red2 = np.array([180, 255, 255])</a:t>
            </a:r>
          </a:p>
          <a:p>
            <a:pPr>
              <a:defRPr sz="1700" b="0">
                <a:solidFill>
                  <a:srgbClr val="444444"/>
                </a:solidFill>
              </a:defRPr>
            </a:pPr>
          </a:p>
          <a:p>
            <a:pPr>
              <a:defRPr sz="1700" b="0">
                <a:solidFill>
                  <a:srgbClr val="444444"/>
                </a:solidFill>
              </a:defRPr>
            </a:pPr>
            <a:r>
              <a:t>mask1 = cv2.inRange(hsv, lower_red1, upper_red1)</a:t>
            </a:r>
          </a:p>
          <a:p>
            <a:pPr>
              <a:defRPr sz="1700" b="0">
                <a:solidFill>
                  <a:srgbClr val="444444"/>
                </a:solidFill>
              </a:defRPr>
            </a:pPr>
            <a:r>
              <a:t>mask2 = cv2.inRange(hsv, lower_red2, upper_red2)</a:t>
            </a:r>
          </a:p>
          <a:p>
            <a:pPr>
              <a:defRPr sz="1700" b="0">
                <a:solidFill>
                  <a:srgbClr val="444444"/>
                </a:solidFill>
              </a:defRPr>
            </a:pPr>
            <a:r>
              <a:t>mask  = cv2.bitwise_or(mask1, mask2)</a:t>
            </a:r>
          </a:p>
          <a:p>
            <a:pPr>
              <a:defRPr sz="1700" b="0">
                <a:solidFill>
                  <a:srgbClr val="444444"/>
                </a:solidFill>
              </a:defRPr>
            </a:pPr>
            <a:r>
              <a:t>result = cv2.bitwise_and(image, image, mask=mask)</a:t>
            </a:r>
          </a:p>
          <a:p>
            <a:pPr>
              <a:defRPr sz="1700" b="0">
                <a:solidFill>
                  <a:srgbClr val="444444"/>
                </a:solidFill>
              </a:defRPr>
            </a:pPr>
            <a:r>
              <a:t>cv2.imwrite('red_filtered.jpg', result)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333333"/>
                </a:solidFill>
              </a:defRPr>
            </a:pPr>
            <a:r>
              <a:t>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800" b="1">
                <a:solidFill>
                  <a:srgbClr val="333333"/>
                </a:solidFill>
              </a:defRPr>
            </a:pPr>
            <a:r>
              <a:t>원본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8288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800" b="1">
                <a:solidFill>
                  <a:srgbClr val="333333"/>
                </a:solidFill>
              </a:defRPr>
            </a:pPr>
            <a:r>
              <a:t>검출 결과</a:t>
            </a:r>
          </a:p>
        </p:txBody>
      </p:sp>
      <p:pic>
        <p:nvPicPr>
          <p:cNvPr id="5" name="Picture 4" descr="s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286000"/>
            <a:ext cx="3657600" cy="3152798"/>
          </a:xfrm>
          <a:prstGeom prst="rect">
            <a:avLst/>
          </a:prstGeom>
        </p:spPr>
      </p:pic>
      <p:pic>
        <p:nvPicPr>
          <p:cNvPr id="6" name="Picture 5" descr="red_filter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286000"/>
            <a:ext cx="3657600" cy="31527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0">
                <a:solidFill>
                  <a:srgbClr val="555555"/>
                </a:solidFill>
              </a:defRPr>
            </a:pPr>
            <a:r>
              <a:t>빨간색만 추출. 초록색/파란색은 마스킹되어 검은색으로 표시.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449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3800" b="1">
                <a:solidFill>
                  <a:srgbClr val="FFFFFF"/>
                </a:solidFill>
              </a:defRPr>
            </a:pPr>
            <a:r>
              <a:t>Part 3. HuggingFace 데이터셋</a:t>
            </a:r>
          </a:p>
          <a:p>
            <a:pPr>
              <a:defRPr sz="2200" b="0">
                <a:solidFill>
                  <a:srgbClr val="BBBBBB"/>
                </a:solidFill>
              </a:defRPr>
            </a:pPr>
            <a:r>
              <a:t>Food101 로드 · pandas EDA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333333"/>
                </a:solidFill>
              </a:defRPr>
            </a:pPr>
            <a:r>
              <a:t>Food101 데이터셋 (dataset.py)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0">
                <a:solidFill>
                  <a:srgbClr val="555555"/>
                </a:solidFill>
              </a:defRPr>
            </a:pPr>
            <a:r>
              <a:t>from datasets import load_dataset</a:t>
            </a:r>
          </a:p>
          <a:p>
            <a:pPr>
              <a:defRPr sz="1800" b="0">
                <a:solidFill>
                  <a:srgbClr val="555555"/>
                </a:solidFill>
              </a:defRPr>
            </a:pPr>
            <a:r>
              <a:t>ds = load_dataset("ethz/food101", split="train")</a:t>
            </a:r>
          </a:p>
          <a:p>
            <a:pPr>
              <a:defRPr sz="800" b="0">
                <a:solidFill>
                  <a:srgbClr val="333333"/>
                </a:solidFill>
              </a:defRPr>
            </a:pPr>
          </a:p>
          <a:p>
            <a:pPr>
              <a:defRPr sz="2000" b="0">
                <a:solidFill>
                  <a:srgbClr val="333333"/>
                </a:solidFill>
              </a:defRPr>
            </a:pPr>
            <a:r>
              <a:t>전체  75,750장</a:t>
            </a:r>
          </a:p>
          <a:p>
            <a:pPr>
              <a:defRPr sz="2000" b="0">
                <a:solidFill>
                  <a:srgbClr val="333333"/>
                </a:solidFill>
              </a:defRPr>
            </a:pPr>
            <a:r>
              <a:t>클래스  101종 (apple_pie, sushi, bibimbap, beignets...)</a:t>
            </a:r>
          </a:p>
          <a:p>
            <a:pPr>
              <a:defRPr sz="2000" b="0">
                <a:solidFill>
                  <a:srgbClr val="333333"/>
                </a:solidFill>
              </a:defRPr>
            </a:pPr>
            <a:r>
              <a:t>이미지 크기  평균 502 x 476 px</a:t>
            </a:r>
          </a:p>
          <a:p>
            <a:pPr>
              <a:defRPr sz="800" b="0">
                <a:solidFill>
                  <a:srgbClr val="333333"/>
                </a:solidFill>
              </a:defRPr>
            </a:pPr>
          </a:p>
          <a:p>
            <a:pPr>
              <a:defRPr sz="1800" b="0">
                <a:solidFill>
                  <a:srgbClr val="555555"/>
                </a:solidFill>
              </a:defRPr>
            </a:pPr>
            <a:r>
              <a:t>100개 샘플 -&gt; pandas DataFrame -&gt; df.head(), df.describe()</a:t>
            </a:r>
          </a:p>
          <a:p>
            <a:pPr>
              <a:defRPr sz="1800" b="0">
                <a:solidFill>
                  <a:srgbClr val="555555"/>
                </a:solidFill>
              </a:defRPr>
            </a:pPr>
            <a:r>
              <a:t>실무에서 EDA(탐색적 데이터 분석)의 표준 방식.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449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3800" b="1">
                <a:solidFill>
                  <a:srgbClr val="FFFFFF"/>
                </a:solidFill>
              </a:defRPr>
            </a:pPr>
            <a:r>
              <a:t>Part 4. 이미지 전처리 파이프라인</a:t>
            </a:r>
          </a:p>
          <a:p>
            <a:pPr>
              <a:defRPr sz="2200" b="0">
                <a:solidFill>
                  <a:srgbClr val="BBBBBB"/>
                </a:solidFill>
              </a:defRPr>
            </a:pPr>
            <a:r>
              <a:t>Resize -&gt; Grayscale -&gt; Blur</a:t>
            </a:r>
          </a:p>
          <a:p>
            <a:pPr>
              <a:defRPr sz="2200" b="0">
                <a:solidFill>
                  <a:srgbClr val="BBBBBB"/>
                </a:solidFill>
              </a:defRPr>
            </a:pPr>
            <a:r>
              <a:t>Augmentation -&gt; Outlier Detection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333333"/>
                </a:solidFill>
              </a:defRPr>
            </a:pPr>
            <a:r>
              <a:t>전처리 파이프라인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0">
                <a:solidFill>
                  <a:srgbClr val="333333"/>
                </a:solidFill>
              </a:defRPr>
            </a:pPr>
            <a:r>
              <a:t>1. resize_224()           -&gt; 224 x 224</a:t>
            </a:r>
          </a:p>
          <a:p>
            <a:pPr>
              <a:defRPr sz="2000" b="0">
                <a:solidFill>
                  <a:srgbClr val="333333"/>
                </a:solidFill>
              </a:defRPr>
            </a:pPr>
            <a:r>
              <a:t>2. Grayscale 변환        -&gt; 1채널</a:t>
            </a:r>
          </a:p>
          <a:p>
            <a:pPr>
              <a:defRPr sz="2000" b="0">
                <a:solidFill>
                  <a:srgbClr val="333333"/>
                </a:solidFill>
              </a:defRPr>
            </a:pPr>
            <a:r>
              <a:t>3. [0, 1] Normalize      -&gt; 정규화</a:t>
            </a:r>
          </a:p>
          <a:p>
            <a:pPr>
              <a:defRPr sz="2000" b="0">
                <a:solidFill>
                  <a:srgbClr val="333333"/>
                </a:solidFill>
              </a:defRPr>
            </a:pPr>
            <a:r>
              <a:t>4. GaussianBlur(5x5)     -&gt; 노이즈 제거</a:t>
            </a:r>
          </a:p>
          <a:p>
            <a:pPr>
              <a:defRPr sz="800" b="0">
                <a:solidFill>
                  <a:srgbClr val="333333"/>
                </a:solidFill>
              </a:defRPr>
            </a:pPr>
          </a:p>
          <a:p>
            <a:pPr>
              <a:defRPr sz="2000" b="1">
                <a:solidFill>
                  <a:srgbClr val="E74C3C"/>
                </a:solidFill>
              </a:defRPr>
            </a:pPr>
            <a:r>
              <a:t>5. 데이터 증강 (각각 저장)</a:t>
            </a:r>
          </a:p>
          <a:p>
            <a:pPr>
              <a:defRPr sz="1800" b="0">
                <a:solidFill>
                  <a:srgbClr val="555555"/>
                </a:solidFill>
              </a:defRPr>
            </a:pPr>
            <a:r>
              <a:t>   - horizontal_flip       좌우 반전</a:t>
            </a:r>
          </a:p>
          <a:p>
            <a:pPr>
              <a:defRPr sz="1800" b="0">
                <a:solidFill>
                  <a:srgbClr val="555555"/>
                </a:solidFill>
              </a:defRPr>
            </a:pPr>
            <a:r>
              <a:t>   - rotate_15             15도 회전</a:t>
            </a:r>
          </a:p>
          <a:p>
            <a:pPr>
              <a:defRPr sz="1800" b="0">
                <a:solidFill>
                  <a:srgbClr val="555555"/>
                </a:solidFill>
              </a:defRPr>
            </a:pPr>
            <a:r>
              <a:t>   - brightness +/-30       밝기 변화</a:t>
            </a:r>
          </a:p>
          <a:p>
            <a:pPr>
              <a:defRPr sz="800" b="0">
                <a:solidFill>
                  <a:srgbClr val="333333"/>
                </a:solidFill>
              </a:defRPr>
            </a:pPr>
          </a:p>
          <a:p>
            <a:pPr>
              <a:defRPr sz="2200" b="1">
                <a:solidFill>
                  <a:srgbClr val="27AE60"/>
                </a:solidFill>
              </a:defRPr>
            </a:pPr>
            <a:r>
              <a:t>의존성: OpenCV + NumPy 만 사용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333333"/>
                </a:solidFill>
              </a:defRPr>
            </a:pPr>
            <a:r>
              <a:t>이상치 탐지 (Outlier Detection)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E74C3C"/>
                </a:solidFill>
              </a:defRPr>
            </a:pPr>
            <a:r>
              <a:t>1) 너무 어두운 이미지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cv2.cvtColor -&gt; GRAY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np.mean(gray) &lt; 30 -&gt; skip</a:t>
            </a:r>
          </a:p>
          <a:p>
            <a:pPr>
              <a:defRPr sz="1000" b="0">
                <a:solidFill>
                  <a:srgbClr val="333333"/>
                </a:solidFill>
              </a:defRPr>
            </a:pPr>
          </a:p>
          <a:p>
            <a:pPr>
              <a:defRPr sz="2000" b="1">
                <a:solidFill>
                  <a:srgbClr val="E74C3C"/>
                </a:solidFill>
              </a:defRPr>
            </a:pPr>
            <a:r>
              <a:t>2) 객체 너무 작은 이미지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cv2.threshold(OTSU) -&gt; binary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cv2.findContours -&gt; max_area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max_area / (h*w) &lt; 0.1 -&gt; skip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333333"/>
                </a:solidFill>
              </a:defRPr>
            </a:pPr>
            <a:r>
              <a:t>전처리 샘플</a:t>
            </a:r>
          </a:p>
        </p:txBody>
      </p:sp>
      <p:pic>
        <p:nvPicPr>
          <p:cNvPr id="3" name="Picture 2" descr="01_beignets_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645920"/>
            <a:ext cx="1828800" cy="2438400"/>
          </a:xfrm>
          <a:prstGeom prst="rect">
            <a:avLst/>
          </a:prstGeom>
        </p:spPr>
      </p:pic>
      <p:pic>
        <p:nvPicPr>
          <p:cNvPr id="4" name="Picture 3" descr="01_beignets_preprocess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931920"/>
            <a:ext cx="1828800" cy="1828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400" b="0">
                <a:solidFill>
                  <a:srgbClr val="555555"/>
                </a:solidFill>
              </a:defRPr>
            </a:pPr>
            <a:r>
              <a:t>original 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474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400" b="0">
                <a:solidFill>
                  <a:srgbClr val="555555"/>
                </a:solidFill>
              </a:defRPr>
            </a:pPr>
            <a:r>
              <a:t>processed #1</a:t>
            </a:r>
          </a:p>
        </p:txBody>
      </p:sp>
      <p:pic>
        <p:nvPicPr>
          <p:cNvPr id="7" name="Picture 6" descr="02_beignets_ra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645920"/>
            <a:ext cx="1828800" cy="1828800"/>
          </a:xfrm>
          <a:prstGeom prst="rect">
            <a:avLst/>
          </a:prstGeom>
        </p:spPr>
      </p:pic>
      <p:pic>
        <p:nvPicPr>
          <p:cNvPr id="8" name="Picture 7" descr="02_beignets_preprocesse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931920"/>
            <a:ext cx="1828800" cy="1828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400" b="0">
                <a:solidFill>
                  <a:srgbClr val="555555"/>
                </a:solidFill>
              </a:defRPr>
            </a:pPr>
            <a:r>
              <a:t>original #2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474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400" b="0">
                <a:solidFill>
                  <a:srgbClr val="555555"/>
                </a:solidFill>
              </a:defRPr>
            </a:pPr>
            <a:r>
              <a:t>processed #2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0">
                <a:solidFill>
                  <a:srgbClr val="555555"/>
                </a:solidFill>
              </a:defRPr>
            </a:pPr>
            <a:r>
              <a:t>5 samples x 4 types (original/flip/rotate/bright) = 20 images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333333"/>
                </a:solidFill>
              </a:defRPr>
            </a:pPr>
            <a:r>
              <a:t>제출 항목 체크리스트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0">
                <a:solidFill>
                  <a:srgbClr val="27AE60"/>
                </a:solidFill>
              </a:defRPr>
            </a:pPr>
            <a:r>
              <a:t>  [O] Git 저장소 구성</a:t>
            </a:r>
          </a:p>
          <a:p>
            <a:pPr>
              <a:defRPr sz="1800" b="0">
                <a:solidFill>
                  <a:srgbClr val="27AE60"/>
                </a:solidFill>
              </a:defRPr>
            </a:pPr>
            <a:r>
              <a:t>  [O] Branch / PR / Merge</a:t>
            </a:r>
          </a:p>
          <a:p>
            <a:pPr>
              <a:defRPr sz="1800" b="0">
                <a:solidFill>
                  <a:srgbClr val="27AE60"/>
                </a:solidFill>
              </a:defRPr>
            </a:pPr>
            <a:r>
              <a:t>  [O] red.py 빨간색 검출</a:t>
            </a:r>
          </a:p>
          <a:p>
            <a:pPr>
              <a:defRPr sz="1800" b="0">
                <a:solidFill>
                  <a:srgbClr val="27AE60"/>
                </a:solidFill>
              </a:defRPr>
            </a:pPr>
            <a:r>
              <a:t>  [O] dataset.py Food101 로드 + pandas</a:t>
            </a:r>
          </a:p>
          <a:p>
            <a:pPr>
              <a:defRPr sz="1800" b="0">
                <a:solidFill>
                  <a:srgbClr val="27AE60"/>
                </a:solidFill>
              </a:defRPr>
            </a:pPr>
            <a:r>
              <a:t>  [O] image_preprocessing.py 전처리 파이프라인</a:t>
            </a:r>
          </a:p>
          <a:p>
            <a:pPr>
              <a:defRPr sz="1800" b="0">
                <a:solidFill>
                  <a:srgbClr val="27AE60"/>
                </a:solidFill>
              </a:defRPr>
            </a:pPr>
            <a:r>
              <a:t>  [O] Resize 224x224</a:t>
            </a:r>
          </a:p>
          <a:p>
            <a:pPr>
              <a:defRPr sz="1800" b="0">
                <a:solidFill>
                  <a:srgbClr val="27AE60"/>
                </a:solidFill>
              </a:defRPr>
            </a:pPr>
            <a:r>
              <a:t>  [O] Grayscale + Normalize</a:t>
            </a:r>
          </a:p>
          <a:p>
            <a:pPr>
              <a:defRPr sz="1800" b="0">
                <a:solidFill>
                  <a:srgbClr val="27AE60"/>
                </a:solidFill>
              </a:defRPr>
            </a:pPr>
            <a:r>
              <a:t>  [O] GaussianBlur 노이즈 제거</a:t>
            </a:r>
          </a:p>
          <a:p>
            <a:pPr>
              <a:defRPr sz="1800" b="0">
                <a:solidFill>
                  <a:srgbClr val="27AE60"/>
                </a:solidFill>
              </a:defRPr>
            </a:pPr>
            <a:r>
              <a:t>  [O] 데이터 증강 3종 (flip, rotate, bright)</a:t>
            </a:r>
          </a:p>
          <a:p>
            <a:pPr>
              <a:defRPr sz="1800" b="0">
                <a:solidFill>
                  <a:srgbClr val="27AE60"/>
                </a:solidFill>
              </a:defRPr>
            </a:pPr>
            <a:r>
              <a:t>  [O] 이상치 탐지 2종 (dark, small object)</a:t>
            </a:r>
          </a:p>
          <a:p>
            <a:pPr>
              <a:defRPr sz="1800" b="0">
                <a:solidFill>
                  <a:srgbClr val="27AE60"/>
                </a:solidFill>
              </a:defRPr>
            </a:pPr>
            <a:r>
              <a:t>  [O] 전처리 결과물 20장</a:t>
            </a:r>
          </a:p>
          <a:p>
            <a:pPr>
              <a:defRPr sz="1800" b="0">
                <a:solidFill>
                  <a:srgbClr val="27AE60"/>
                </a:solidFill>
              </a:defRPr>
            </a:pPr>
            <a:r>
              <a:t>  [O] PPT 보고서 (본 문서)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914400"/>
            <a:ext cx="9144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3600" b="1">
                <a:solidFill>
                  <a:srgbClr val="FFFFFF"/>
                </a:solidFill>
              </a:defRPr>
            </a:pPr>
            <a:r>
              <a:t>배운 점</a:t>
            </a:r>
          </a:p>
          <a:p>
            <a:pPr>
              <a:defRPr sz="1000" b="0">
                <a:solidFill>
                  <a:srgbClr val="333333"/>
                </a:solidFill>
              </a:defRPr>
            </a:pP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1. HSV가 RGB보다 실용적이다</a:t>
            </a:r>
          </a:p>
          <a:p>
            <a:pPr>
              <a:defRPr sz="1600" b="0">
                <a:solidFill>
                  <a:srgbClr val="AAAAAA"/>
                </a:solidFill>
              </a:defRPr>
            </a:pPr>
            <a:r>
              <a:t>   조명 변화에 강하고, 인간이 인식하는 '색상'에 가깝다.</a:t>
            </a:r>
          </a:p>
          <a:p>
            <a:pPr>
              <a:defRPr sz="800" b="0">
                <a:solidFill>
                  <a:srgbClr val="333333"/>
                </a:solidFill>
              </a:defRPr>
            </a:pP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2. cv2.bitwise_or vs + 연산자</a:t>
            </a:r>
          </a:p>
          <a:p>
            <a:pPr>
              <a:defRPr sz="1600" b="0">
                <a:solidFill>
                  <a:srgbClr val="AAAAAA"/>
                </a:solidFill>
              </a:defRPr>
            </a:pPr>
            <a:r>
              <a:t>   uint8에서 255+255=510 overflow. 비트 연산이 정확하다.</a:t>
            </a:r>
          </a:p>
          <a:p>
            <a:pPr>
              <a:defRPr sz="800" b="0">
                <a:solidFill>
                  <a:srgbClr val="333333"/>
                </a:solidFill>
              </a:defRPr>
            </a:pP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3. pandas로 EDA 먼저, 전처리는 그 다음</a:t>
            </a:r>
          </a:p>
          <a:p>
            <a:pPr>
              <a:defRPr sz="1600" b="0">
                <a:solidFill>
                  <a:srgbClr val="AAAAAA"/>
                </a:solidFill>
              </a:defRPr>
            </a:pPr>
            <a:r>
              <a:t>   데이터 분포를 먼저 파악하고 전처리 전략을 세운다.</a:t>
            </a:r>
          </a:p>
          <a:p>
            <a:pPr>
              <a:defRPr sz="800" b="0">
                <a:solidFill>
                  <a:srgbClr val="333333"/>
                </a:solidFill>
              </a:defRPr>
            </a:pP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4. Git 브랜치 전략은 혼자여도 의미 있다</a:t>
            </a:r>
          </a:p>
          <a:p>
            <a:pPr>
              <a:defRPr sz="1600" b="0">
                <a:solidFill>
                  <a:srgbClr val="AAAAAA"/>
                </a:solidFill>
              </a:defRPr>
            </a:pPr>
            <a:r>
              <a:t>   실수 복구가 쉽고, 작업 단위가 명확해진다.</a:t>
            </a:r>
          </a:p>
          <a:p>
            <a:pPr>
              <a:defRPr sz="800" b="0">
                <a:solidFill>
                  <a:srgbClr val="333333"/>
                </a:solidFill>
              </a:defRPr>
            </a:pP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5. OpenCV + NumPy만으로 충분한 파이프라인</a:t>
            </a:r>
          </a:p>
          <a:p>
            <a:pPr>
              <a:defRPr sz="1600" b="0">
                <a:solidFill>
                  <a:srgbClr val="AAAAAA"/>
                </a:solidFill>
              </a:defRPr>
            </a:pPr>
            <a:r>
              <a:t>   추가 라이브러리 의존 없이 기본 함수 조합으로 구현했다.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