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8404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3D3E2"/>
                </a:solidFill>
                <a:latin typeface="Malgun Gothic"/>
              </a:rPr>
              <a:t>CV BOOTCAMP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5486400" cy="1508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검증 가능한 RGB-D</a:t>
            </a:r>
            <a:br/>
            <a:r>
              <a:rPr sz="3200" b="1">
                <a:solidFill>
                  <a:srgbClr val="FFFFFF"/>
                </a:solidFill>
                <a:latin typeface="Malgun Gothic"/>
              </a:rPr>
              <a:t>2D → 3D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514600"/>
            <a:ext cx="502920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C9D2DB"/>
                </a:solidFill>
                <a:latin typeface="Malgun Gothic"/>
              </a:rPr>
              <a:t>OpenCV로 metric point cloud를 만들고</a:t>
            </a:r>
            <a:br/>
            <a:r>
              <a:rPr sz="1700" b="0">
                <a:solidFill>
                  <a:srgbClr val="C9D2DB"/>
                </a:solidFill>
                <a:latin typeface="Malgun Gothic"/>
              </a:rPr>
              <a:t>GoogleTest로 기하·결측·출력을 검증</a:t>
            </a:r>
          </a:p>
        </p:txBody>
      </p:sp>
      <p:pic>
        <p:nvPicPr>
          <p:cNvPr id="5" name="Picture 4" descr="point_cloud_preview_c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502920"/>
            <a:ext cx="5532120" cy="3227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230368"/>
            <a:ext cx="12191695" cy="1627632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04688"/>
            <a:ext cx="22402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8A5A"/>
                </a:solidFill>
                <a:latin typeface="Malgun Gothic"/>
              </a:rPr>
              <a:t>7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16168"/>
            <a:ext cx="22402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GoogleTest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5504688"/>
            <a:ext cx="22402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91AE"/>
                </a:solidFill>
                <a:latin typeface="Malgun Gothic"/>
              </a:rPr>
              <a:t>57,474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5916168"/>
            <a:ext cx="22402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생성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5504688"/>
            <a:ext cx="22402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DA7522"/>
                </a:solidFill>
                <a:latin typeface="Malgun Gothic"/>
              </a:rPr>
              <a:t>74.83%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5916168"/>
            <a:ext cx="22402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유효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5504688"/>
            <a:ext cx="283464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8A5A"/>
                </a:solidFill>
                <a:latin typeface="Malgun Gothic"/>
              </a:rPr>
              <a:t>0.00001907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916168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최대 재투영 오차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91AE"/>
                </a:solidFill>
                <a:latin typeface="Malgun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C2229"/>
                </a:solidFill>
                <a:latin typeface="Malgun Gothic"/>
              </a:rPr>
              <a:t>RGB-D 한 프레임을 metric 3D로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13232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Malgun Gothic"/>
              </a:rPr>
              <a:t>RGB만 보고 깊이를 추정한 것이 아니라, Kinect가 측정한 depth를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55680" cy="13716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20574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229"/>
                </a:solidFill>
                <a:latin typeface="Malgun Gothic"/>
              </a:rPr>
              <a:t>RGB +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2057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B6774"/>
                </a:solidFill>
                <a:latin typeface="Malgun Gothic"/>
              </a:rPr>
              <a:t>색상과 픽셀별 거리 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9164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91AE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72768"/>
            <a:ext cx="20574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229"/>
                </a:solidFill>
                <a:latin typeface="Malgun Gothic"/>
              </a:rPr>
              <a:t>유효값 필터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38528"/>
            <a:ext cx="2057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B6774"/>
                </a:solidFill>
                <a:latin typeface="Malgun Gothic"/>
              </a:rPr>
              <a:t>0·음수·NaN·Inf 제외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69164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91A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20574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229"/>
                </a:solidFill>
                <a:latin typeface="Malgun Gothic"/>
              </a:rPr>
              <a:t>Deprojection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38528"/>
            <a:ext cx="2057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B6774"/>
                </a:solidFill>
                <a:latin typeface="Malgun Gothic"/>
              </a:rPr>
              <a:t>픽셀 좌표를 카메라 좌표로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69164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91AE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1732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72768"/>
            <a:ext cx="20574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229"/>
                </a:solidFill>
                <a:latin typeface="Malgun Gothic"/>
              </a:rPr>
              <a:t>XYZRGB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38528"/>
            <a:ext cx="2057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B6774"/>
                </a:solidFill>
                <a:latin typeface="Malgun Gothic"/>
              </a:rPr>
              <a:t>PLY·CSV·시각화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80360"/>
            <a:ext cx="5074920" cy="2331720"/>
          </a:xfrm>
          <a:prstGeom prst="rect">
            <a:avLst/>
          </a:prstGeom>
          <a:solidFill>
            <a:srgbClr val="14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136392"/>
            <a:ext cx="42976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63D3E2"/>
                </a:solidFill>
                <a:latin typeface="Malgun Gothic"/>
              </a:rPr>
              <a:t>Pinhole camera deprojection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84448"/>
            <a:ext cx="4297680" cy="1143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X = (u − cx) × Z / fx</a:t>
            </a:r>
            <a:br/>
            <a:r>
              <a:rPr sz="2200" b="1">
                <a:solidFill>
                  <a:srgbClr val="FFFFFF"/>
                </a:solidFill>
                <a:latin typeface="Consolas"/>
              </a:rPr>
              <a:t>Y = (v − cy) × Z / fy</a:t>
            </a:r>
            <a:br/>
            <a:r>
              <a:rPr sz="2200" b="1">
                <a:solidFill>
                  <a:srgbClr val="FFFFFF"/>
                </a:solidFill>
                <a:latin typeface="Consolas"/>
              </a:rPr>
              <a:t>Z =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1CAD3"/>
                </a:solidFill>
                <a:latin typeface="Malgun Gothic"/>
              </a:rPr>
              <a:t>(u,v): pixel   ·   (fx,fy,cx,cy): camera intrinsics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971800"/>
            <a:ext cx="50749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C2229"/>
                </a:solidFill>
                <a:latin typeface="Malgun Gothic"/>
              </a:rPr>
              <a:t>왜 depth=0을 버리는가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502152"/>
            <a:ext cx="5257800" cy="1645920"/>
          </a:xfrm>
          <a:prstGeom prst="rect">
            <a:avLst/>
          </a:prstGeom>
          <a:noFill/>
        </p:spPr>
        <p:txBody>
          <a:bodyPr wrap="square" lIns="27432" rIns="0" tIns="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2229"/>
                </a:solidFill>
                <a:latin typeface="Malgun Gothic"/>
              </a:defRPr>
            </a:pPr>
            <a:r>
              <a:t>• 0은 물체가 카메라 원점에 있다는 뜻이 아니라 측정 실패값</a:t>
            </a:r>
          </a:p>
          <a:p>
            <a:pPr>
              <a:spcAft>
                <a:spcPts val="900"/>
              </a:spcAft>
              <a:defRPr sz="1500">
                <a:solidFill>
                  <a:srgbClr val="1C2229"/>
                </a:solidFill>
                <a:latin typeface="Malgun Gothic"/>
              </a:defRPr>
            </a:pPr>
            <a:r>
              <a:t>• 그대로 넣으면 가짜 점들이 (0,0,0) 주변에 쌓여 cloud가 오염</a:t>
            </a:r>
          </a:p>
          <a:p>
            <a:pPr>
              <a:spcAft>
                <a:spcPts val="900"/>
              </a:spcAft>
              <a:defRPr sz="1500">
                <a:solidFill>
                  <a:srgbClr val="1C2229"/>
                </a:solidFill>
                <a:latin typeface="Malgun Gothic"/>
              </a:defRPr>
            </a:pPr>
            <a:r>
              <a:t>• 따라서 유효한 Z만 3D 좌표로 변환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91AE"/>
                </a:solidFill>
                <a:latin typeface="Malgun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C2229"/>
                </a:solidFill>
                <a:latin typeface="Malgun Gothic"/>
              </a:rPr>
              <a:t>Unit Test: 답을 아는 작은 문제로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13232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Malgun Gothic"/>
              </a:rPr>
              <a:t>Synthetic Golden Case를 먼저 통과시킨 뒤 실제 데이터에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55680" cy="13716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840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C2229"/>
                </a:solidFill>
                <a:latin typeface="Malgun Gothic"/>
              </a:rPr>
              <a:t>Golden 3×3 depth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7" y="1874519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7" y="1874519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3976" y="1874519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93976" y="1874519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32887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32887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35607" y="2532887"/>
            <a:ext cx="658368" cy="658368"/>
          </a:xfrm>
          <a:prstGeom prst="rect">
            <a:avLst/>
          </a:prstGeom>
          <a:solidFill>
            <a:srgbClr val="D8F3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5607" y="2532887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93976" y="2532887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3976" y="2532887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91256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9125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5607" y="3191256"/>
            <a:ext cx="658368" cy="658368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5607" y="319125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93976" y="3191256"/>
            <a:ext cx="658368" cy="658368"/>
          </a:xfrm>
          <a:prstGeom prst="rect">
            <a:avLst/>
          </a:prstGeom>
          <a:solidFill>
            <a:srgbClr val="F4DD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93976" y="319125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C2229"/>
                </a:solidFill>
                <a:latin typeface="Malgun 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39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B6774"/>
                </a:solidFill>
                <a:latin typeface="Malgun Gothic"/>
              </a:rPr>
              <a:t>K: fx=fy=1, cx=cy=1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4023360" cy="1143000"/>
          </a:xfrm>
          <a:prstGeom prst="rect">
            <a:avLst/>
          </a:prstGeom>
          <a:noFill/>
        </p:spPr>
        <p:txBody>
          <a:bodyPr wrap="square" lIns="27432" rIns="0" t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중심 (1,1), Z=2 → (0,0,2)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오른쪽 (2,1), Z=1 → (1,0,1)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depth=0 제외 → valid 8, invalid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325880"/>
            <a:ext cx="32004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C2229"/>
                </a:solidFill>
                <a:latin typeface="Malgun Gothic"/>
              </a:rPr>
              <a:t>GoogleTest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1828800"/>
            <a:ext cx="5715000" cy="438912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1865376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Golden 3×3 좌표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1865376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359152"/>
            <a:ext cx="571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2395728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결측 depth 필터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39572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2889504"/>
            <a:ext cx="5715000" cy="438912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2926080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2D→3D→2D round-trip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292608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419856"/>
            <a:ext cx="571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3456432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잘못된 focal length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456432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950208"/>
            <a:ext cx="5715000" cy="438912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986784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RGB/depth timestamp pairing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3986784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480560"/>
            <a:ext cx="5715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4517136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PLY vertex 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4517136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5010912"/>
            <a:ext cx="5715000" cy="438912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5047488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C2229"/>
                </a:solidFill>
                <a:latin typeface="Malgun Gothic"/>
              </a:rPr>
              <a:t>시각화 이미지 생성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504748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E8A5A"/>
                </a:solidFill>
                <a:latin typeface="Malgun Gothic"/>
              </a:rPr>
              <a:t>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91AE"/>
                </a:solidFill>
                <a:latin typeface="Malgun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C2229"/>
                </a:solidFill>
                <a:latin typeface="Malgun Gothic"/>
              </a:rPr>
              <a:t>실제 TUM RGB-D 데이터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13232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Malgun Gothic"/>
              </a:rPr>
              <a:t>Freiburg1 XYZ · 640×480 · Kinect · 첫 번째 RGB/depth association 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55680" cy="13716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pth_preview_c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3246120" cy="2441448"/>
          </a:xfrm>
          <a:prstGeom prst="rect">
            <a:avLst/>
          </a:prstGeom>
        </p:spPr>
      </p:pic>
      <p:pic>
        <p:nvPicPr>
          <p:cNvPr id="7" name="Picture 6" descr="projection_preview_c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325880"/>
            <a:ext cx="3246120" cy="2441448"/>
          </a:xfrm>
          <a:prstGeom prst="rect">
            <a:avLst/>
          </a:prstGeom>
        </p:spPr>
      </p:pic>
      <p:pic>
        <p:nvPicPr>
          <p:cNvPr id="8" name="Picture 7" descr="point_cloud_preview_c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325880"/>
            <a:ext cx="4251960" cy="2478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822191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B6774"/>
                </a:solidFill>
                <a:latin typeface="Malgun Gothic"/>
              </a:rPr>
              <a:t>Depth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822191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B6774"/>
                </a:solidFill>
                <a:latin typeface="Malgun Gothic"/>
              </a:rPr>
              <a:t>3D→2D reprojection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822191"/>
            <a:ext cx="42519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B6774"/>
                </a:solidFill>
                <a:latin typeface="Malgun Gothic"/>
              </a:rPr>
              <a:t>Point cloud front /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21031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91AE"/>
                </a:solidFill>
                <a:latin typeface="Malgun Gothic"/>
              </a:rPr>
              <a:t>797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2920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RGB-depth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617720"/>
            <a:ext cx="21031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8A5A"/>
                </a:solidFill>
                <a:latin typeface="Malgun Gothic"/>
              </a:rPr>
              <a:t>229,875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502920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valid depth pixels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617720"/>
            <a:ext cx="21031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DA7522"/>
                </a:solidFill>
                <a:latin typeface="Malgun Gothic"/>
              </a:rPr>
              <a:t>77,325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502920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invalid depth pixels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617720"/>
            <a:ext cx="21031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91AE"/>
                </a:solidFill>
                <a:latin typeface="Malgun Gothic"/>
              </a:rPr>
              <a:t>0.903–3.717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502920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depth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617720"/>
            <a:ext cx="182880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E8A5A"/>
                </a:solidFill>
                <a:latin typeface="Malgun Gothic"/>
              </a:rPr>
              <a:t>0.0149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502920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774"/>
                </a:solidFill>
                <a:latin typeface="Malgun Gothic"/>
              </a:rPr>
              <a:t>pair timestamp 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3504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B6774"/>
                </a:solidFill>
                <a:latin typeface="Malgun Gothic"/>
              </a:rPr>
              <a:t>재투영 오차는 학습 모델의 정확도가 아니라 구현한 투영·역투영 수식의 일관성을 검증한 값이다.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91AE"/>
                </a:solidFill>
                <a:latin typeface="Malgun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C2229"/>
                </a:solidFill>
                <a:latin typeface="Malgun Gothic"/>
              </a:rPr>
              <a:t>결론: RGB-D 기하 파이프라인을 검증 가능한 코드로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13232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Malgun Gothic"/>
              </a:rPr>
              <a:t>단일 프레임 point cloud는 완성, 완전한 3D 복원은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55680" cy="13716"/>
          </a:xfrm>
          <a:prstGeom prst="rect">
            <a:avLst/>
          </a:prstGeom>
          <a:solidFill>
            <a:srgbClr val="D8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154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154680" cy="73152"/>
          </a:xfrm>
          <a:prstGeom prst="rect">
            <a:avLst/>
          </a:prstGeom>
          <a:solidFill>
            <a:srgbClr val="1E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697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E8A5A"/>
                </a:solidFill>
                <a:latin typeface="Malgun Gothic"/>
              </a:rPr>
              <a:t>완성한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697480" cy="2651760"/>
          </a:xfrm>
          <a:prstGeom prst="rect">
            <a:avLst/>
          </a:prstGeom>
          <a:noFill/>
        </p:spPr>
        <p:txBody>
          <a:bodyPr wrap="square" lIns="27432" rIns="0" t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OpenCV 16-bit depth 로딩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metric XYZRGB point cloud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결측값·intrinsics 검증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PLY·CSV·3종 시각화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GoogleTest 7/7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417320"/>
            <a:ext cx="3154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417320"/>
            <a:ext cx="3154680" cy="73152"/>
          </a:xfrm>
          <a:prstGeom prst="rect">
            <a:avLst/>
          </a:prstGeom>
          <a:solidFill>
            <a:srgbClr val="DA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2697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DA7522"/>
                </a:solidFill>
                <a:latin typeface="Malgun Gothic"/>
              </a:rPr>
              <a:t>현재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2697480" cy="2651760"/>
          </a:xfrm>
          <a:prstGeom prst="rect">
            <a:avLst/>
          </a:prstGeom>
          <a:noFill/>
        </p:spPr>
        <p:txBody>
          <a:bodyPr wrap="square" lIns="27432" rIns="0" t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RGB 단독 depth 예측 아님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가려진 뒷면은 복원 불가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한 프레임의 camera 좌표계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sampling으로 밀도 감소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동적 장면 sync 오차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17320"/>
            <a:ext cx="3154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1417320"/>
            <a:ext cx="3154680" cy="73152"/>
          </a:xfrm>
          <a:prstGeom prst="rect">
            <a:avLst/>
          </a:prstGeom>
          <a:solidFill>
            <a:srgbClr val="009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691640"/>
            <a:ext cx="2697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91AE"/>
                </a:solidFill>
                <a:latin typeface="Malgun Gothic"/>
              </a:rPr>
              <a:t>Physical AI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2697480" cy="2651760"/>
          </a:xfrm>
          <a:prstGeom prst="rect">
            <a:avLst/>
          </a:prstGeom>
          <a:noFill/>
        </p:spPr>
        <p:txBody>
          <a:bodyPr wrap="square" lIns="27432" rIns="0" tIns="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pose 기반 multi-view fusion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실물 RGB-D 센서 캡처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object segmentation 결합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grasp 후보와 충돌 영역 분석</a:t>
            </a:r>
          </a:p>
          <a:p>
            <a:pPr>
              <a:spcAft>
                <a:spcPts val="900"/>
              </a:spcAft>
              <a:defRPr sz="1400">
                <a:solidFill>
                  <a:srgbClr val="1C2229"/>
                </a:solidFill>
                <a:latin typeface="Malgun Gothic"/>
              </a:defRPr>
            </a:pPr>
            <a:r>
              <a:t>• Isaac Sim/ROS 2 입력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C2229"/>
                </a:solidFill>
                <a:latin typeface="Malgun Gothic"/>
              </a:rPr>
              <a:t>핵심 학습 성과  |  센서가 제공한 depth를 카메라 모델로 해석하고, 작은 정답 문제와 실제 산출물로 코드 정확성을 증명했다.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B6774"/>
                </a:solidFill>
                <a:latin typeface="Malgun Gothic"/>
              </a:rPr>
              <a:t>Data: TUM RGB-D Dataset · Implementation: C++17 / OpenCV 4.12 / GoogleTest 1.15.2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 구성 및 RGB-D 2D→3D 변환 알고리즘 설계</dc:title>
  <dc:subject>CV Bootcamp Week 2</dc:subject>
  <dc:creator>장승민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