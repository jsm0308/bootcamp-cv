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bd9cc1a8f4ddd" /><Relationship Type="http://schemas.openxmlformats.org/officeDocument/2006/relationships/extended-properties" Target="/docProps/app.xml" Id="Rc87abb834bb84043" /><Relationship Type="http://schemas.openxmlformats.org/officeDocument/2006/relationships/officeDocument" Target="/ppt/presentation.xml" Id="R02a476fea0ea46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00302d5c9465e"/>
  </p:sldMasterIdLst>
  <p:notesMasterIdLst>
    <p:notesMasterId xmlns:r="http://schemas.openxmlformats.org/officeDocument/2006/relationships" r:id="Rf9df3f89b15a4411"/>
  </p:notesMasterIdLst>
  <p:sldIdLst>
    <p:sldId xmlns:r="http://schemas.openxmlformats.org/officeDocument/2006/relationships" id="256" r:id="Rbe86776ab3de4ee2"/>
    <p:sldId xmlns:r="http://schemas.openxmlformats.org/officeDocument/2006/relationships" id="257" r:id="Rbed104626db74c4f"/>
    <p:sldId xmlns:r="http://schemas.openxmlformats.org/officeDocument/2006/relationships" id="258" r:id="R8cf7def931b841fb"/>
    <p:sldId xmlns:r="http://schemas.openxmlformats.org/officeDocument/2006/relationships" id="259" r:id="R80f3f833b4fd473e"/>
    <p:sldId xmlns:r="http://schemas.openxmlformats.org/officeDocument/2006/relationships" id="260" r:id="R78fb8cf567ab45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1449c0b8b4c5a" /><Relationship Type="http://schemas.openxmlformats.org/officeDocument/2006/relationships/slideMaster" Target="/ppt/slideMasters/slideMaster1.xml" Id="R7c100302d5c9465e" /><Relationship Type="http://schemas.openxmlformats.org/officeDocument/2006/relationships/notesMaster" Target="/ppt/notesMasters/notesMaster1.xml" Id="Rf9df3f89b15a4411" /><Relationship Type="http://schemas.openxmlformats.org/officeDocument/2006/relationships/presProps" Target="/ppt/presProps.xml" Id="R4ab9cb67a4584b5e" /><Relationship Type="http://schemas.openxmlformats.org/officeDocument/2006/relationships/tableStyles" Target="/ppt/tableStyles.xml" Id="Rceb8dffb0f1046ef" /><Relationship Type="http://schemas.openxmlformats.org/officeDocument/2006/relationships/slide" Target="/ppt/slides/slide1.xml" Id="Rbe86776ab3de4ee2" /><Relationship Type="http://schemas.openxmlformats.org/officeDocument/2006/relationships/slide" Target="/ppt/slides/slide2.xml" Id="Rbed104626db74c4f" /><Relationship Type="http://schemas.openxmlformats.org/officeDocument/2006/relationships/slide" Target="/ppt/slides/slide3.xml" Id="R8cf7def931b841fb" /><Relationship Type="http://schemas.openxmlformats.org/officeDocument/2006/relationships/slide" Target="/ppt/slides/slide4.xml" Id="R80f3f833b4fd473e" /><Relationship Type="http://schemas.openxmlformats.org/officeDocument/2006/relationships/slide" Target="/ppt/slides/slide5.xml" Id="R78fb8cf567ab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3331717f2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33ee79f9e4696" /><Relationship Type="http://schemas.openxmlformats.org/officeDocument/2006/relationships/notesMaster" Target="/ppt/notesMasters/notesMaster1.xml" Id="R23922fa70e2141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3f57be81e4fb1" /><Relationship Type="http://schemas.openxmlformats.org/officeDocument/2006/relationships/notesMaster" Target="/ppt/notesMasters/notesMaster1.xml" Id="Rff0c81899fe6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918987f20642ad" /><Relationship Type="http://schemas.openxmlformats.org/officeDocument/2006/relationships/notesMaster" Target="/ppt/notesMasters/notesMaster1.xml" Id="Ra97eccb515a44b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06b129dd56484b" /><Relationship Type="http://schemas.openxmlformats.org/officeDocument/2006/relationships/notesMaster" Target="/ppt/notesMasters/notesMaster1.xml" Id="R28474760a0404d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e239432794836" /><Relationship Type="http://schemas.openxmlformats.org/officeDocument/2006/relationships/notesMaster" Target="/ppt/notesMasters/notesMaster1.xml" Id="R36fae12e42dd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e32d68a224e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680feab3d466c" /><Relationship Type="http://schemas.openxmlformats.org/officeDocument/2006/relationships/slideLayout" Target="/ppt/slideLayouts/slideLayout1.xml" Id="R7bb938a17c80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938a17c80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489898f1b463f" /><Relationship Type="http://schemas.openxmlformats.org/officeDocument/2006/relationships/image" Target="/ppt/media/image.jpeg" Id="Rf5035669b9b44740" /><Relationship Type="http://schemas.openxmlformats.org/officeDocument/2006/relationships/notesSlide" Target="/ppt/notesSlides/notesSlide1.xml" Id="R95146ada8e0647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dc0b2ba644a18" /><Relationship Type="http://schemas.openxmlformats.org/officeDocument/2006/relationships/image" Target="/ppt/media/image.png" Id="Rbbd28eeadadf4f28" /><Relationship Type="http://schemas.openxmlformats.org/officeDocument/2006/relationships/notesSlide" Target="/ppt/notesSlides/notesSlide2.xml" Id="Racfe0326854342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15848cfa84149" /><Relationship Type="http://schemas.openxmlformats.org/officeDocument/2006/relationships/image" Target="/ppt/media/image2.png" Id="R772e0bb5df5341cb" /><Relationship Type="http://schemas.openxmlformats.org/officeDocument/2006/relationships/notesSlide" Target="/ppt/notesSlides/notesSlide3.xml" Id="R157c2e6788f1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5dc313ddc4adc" /><Relationship Type="http://schemas.openxmlformats.org/officeDocument/2006/relationships/image" Target="/ppt/media/image3.png" Id="R3454e84712b240fa" /><Relationship Type="http://schemas.openxmlformats.org/officeDocument/2006/relationships/image" Target="/ppt/media/image4.png" Id="R9750999bc2934ebf" /><Relationship Type="http://schemas.openxmlformats.org/officeDocument/2006/relationships/notesSlide" Target="/ppt/notesSlides/notesSlide4.xml" Id="Rfa5461285a90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65e0bcf9841e8" /><Relationship Type="http://schemas.openxmlformats.org/officeDocument/2006/relationships/notesSlide" Target="/ppt/notesSlides/notesSlide5.xml" Id="Rd7fc615f26a149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272ED37-F955-45D8-8D08-FBD9DA2D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CV BOOTCAMP · WEEK 3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93A859F-7B6E-4660-96E8-0BF3554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5381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7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YOLOv8로 알약을 찾고,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OpenCV로 검증했다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E173EB9-04DD-4F0F-83D3-087149AB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02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115장의 작은 데이터로 학습–검증–시각화–카운팅까지 완성한 객체 탐지 실습</a:t>
            </a:r>
          </a:p>
        </p:txBody>
      </p:sp>
      <p:sp>
        <p:nvSpPr>
          <p:cNvPr id="4" name="scope-strip">
            <a:extLst xmlns:a="http://schemas.openxmlformats.org/drawingml/2006/main">
              <a:ext uri="{FF2B5EF4-FFF2-40B4-BE49-F238E27FC236}">
                <a16:creationId xmlns:a16="http://schemas.microsoft.com/office/drawing/2014/main" id="{994A329F-A307-4479-8714-2A7DF86D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528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C75AB3B9-81C9-42D4-A28E-AADCBF96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YOLOv8n fine-tuning  ·  Colab T4  ·  30 epochs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 class: pill  ·  OpenCV bbox rendering</a:t>
            </a:r>
          </a:p>
        </p:txBody>
      </p:sp>
      <p:sp>
        <p:nvSpPr>
          <p:cNvPr id="6" name="opencv-prediction-backing">
            <a:extLst xmlns:a="http://schemas.openxmlformats.org/drawingml/2006/main">
              <a:ext uri="{FF2B5EF4-FFF2-40B4-BE49-F238E27FC236}">
                <a16:creationId xmlns:a16="http://schemas.microsoft.com/office/drawing/2014/main" id="{C09F124E-A40A-43B2-A31F-F77EE1A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35669b9b44740"/>
          <a:srcRect xmlns:a="http://schemas.openxmlformats.org/drawingml/2006/main" l="22162" t="0" r="221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8" name="footer-1">
            <a:extLst xmlns:a="http://schemas.openxmlformats.org/drawingml/2006/main">
              <a:ext uri="{FF2B5EF4-FFF2-40B4-BE49-F238E27FC236}">
                <a16:creationId xmlns:a16="http://schemas.microsoft.com/office/drawing/2014/main" id="{F65D44C8-FFE4-462F-871A-3AE9FD8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0846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B32E7D-D531-48A8-9B02-E682A5B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115장으로 알약 위치 탐지 파이프라인을 완성했다</a:t>
            </a:r>
          </a:p>
        </p:txBody>
      </p:sp>
      <p:sp>
        <p:nvSpPr>
          <p:cNvPr id="2" name="dataset-ground-truth-backing">
            <a:extLst xmlns:a="http://schemas.openxmlformats.org/drawingml/2006/main">
              <a:ext uri="{FF2B5EF4-FFF2-40B4-BE49-F238E27FC236}">
                <a16:creationId xmlns:a16="http://schemas.microsoft.com/office/drawing/2014/main" id="{A22BFECF-EA8A-4FC4-AA2E-6F55191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3818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28eeadadf4f28"/>
          <a:stretch xmlns:a="http://schemas.openxmlformats.org/drawingml/2006/main"/>
        </p:blipFill>
        <p:spPr>
          <a:xfrm xmlns:a="http://schemas.openxmlformats.org/drawingml/2006/main">
            <a:off x="400050" y="1582223"/>
            <a:ext cx="7381875" cy="2741054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4" name="dataset-caption">
            <a:extLst xmlns:a="http://schemas.openxmlformats.org/drawingml/2006/main">
              <a:ext uri="{FF2B5EF4-FFF2-40B4-BE49-F238E27FC236}">
                <a16:creationId xmlns:a16="http://schemas.microsoft.com/office/drawing/2014/main" id="{58B57BF9-ED00-4B37-A567-824B70D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위: 원본 이미지  ·  아래: YOLO 라벨을 좌표로 변환한 Ground Truth bbox</a:t>
            </a:r>
          </a:p>
        </p:txBody>
      </p:sp>
      <p:sp>
        <p:nvSpPr>
          <p:cNvPr id="5" name="dataset-path">
            <a:extLst xmlns:a="http://schemas.openxmlformats.org/drawingml/2006/main">
              <a:ext uri="{FF2B5EF4-FFF2-40B4-BE49-F238E27FC236}">
                <a16:creationId xmlns:a16="http://schemas.microsoft.com/office/drawing/2014/main" id="{42862156-CEB6-45E6-BD77-D0275E2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Colab 저장 위치  /content/datasets/medical-pills/</a:t>
            </a:r>
          </a:p>
        </p:txBody>
      </p:sp>
      <p:sp>
        <p:nvSpPr>
          <p:cNvPr id="6" name="dataset-stats">
            <a:extLst xmlns:a="http://schemas.openxmlformats.org/drawingml/2006/main">
              <a:ext uri="{FF2B5EF4-FFF2-40B4-BE49-F238E27FC236}">
                <a16:creationId xmlns:a16="http://schemas.microsoft.com/office/drawing/2014/main" id="{FA5F5D2A-83D5-405A-B126-05D05567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525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92장</a:t>
            </a:r>
          </a:p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TRAIN</a:t>
            </a:r>
          </a:p>
        </p:txBody>
      </p:sp>
      <p:sp>
        <p:nvSpPr>
          <p:cNvPr id="7" name="dataset-stats-2">
            <a:extLst xmlns:a="http://schemas.openxmlformats.org/drawingml/2006/main">
              <a:ext uri="{FF2B5EF4-FFF2-40B4-BE49-F238E27FC236}">
                <a16:creationId xmlns:a16="http://schemas.microsoft.com/office/drawing/2014/main" id="{7E979183-2111-4930-88FC-40272ED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3525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rPr>
              <a:t>23장</a:t>
            </a:r>
          </a:p>
          <a:p xmlns:a="http://schemas.openxmlformats.org/drawingml/2006/main">
            <a:pPr algn="l">
              <a:defRPr sz="25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rPr>
              <a:t>VAL</a:t>
            </a:r>
          </a:p>
        </p:txBody>
      </p:sp>
      <p:sp>
        <p:nvSpPr>
          <p:cNvPr id="8" name="object-count">
            <a:extLst xmlns:a="http://schemas.openxmlformats.org/drawingml/2006/main">
              <a:ext uri="{FF2B5EF4-FFF2-40B4-BE49-F238E27FC236}">
                <a16:creationId xmlns:a16="http://schemas.microsoft.com/office/drawing/2014/main" id="{4A62D08B-5D66-4A04-A769-05A386DB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2,022개 bbox · 평균 17.6개/이미지</a:t>
            </a:r>
          </a:p>
        </p:txBody>
      </p:sp>
      <p:sp>
        <p:nvSpPr>
          <p:cNvPr id="9" name="why-panel">
            <a:extLst xmlns:a="http://schemas.openxmlformats.org/drawingml/2006/main">
              <a:ext uri="{FF2B5EF4-FFF2-40B4-BE49-F238E27FC236}">
                <a16:creationId xmlns:a16="http://schemas.microsoft.com/office/drawing/2014/main" id="{4CE28B86-CA8A-477D-9223-2F9B495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05150"/>
            <a:ext cx="347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hy">
            <a:extLst xmlns:a="http://schemas.openxmlformats.org/drawingml/2006/main">
              <a:ext uri="{FF2B5EF4-FFF2-40B4-BE49-F238E27FC236}">
                <a16:creationId xmlns:a16="http://schemas.microsoft.com/office/drawing/2014/main" id="{05224C9E-73CB-43C9-B03D-265E685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이 데이터인가?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공식·소형·라벨 완비 데이터라 3시간 안에 전체 흐름을 검증할 수 있었다.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959348FD-4C08-4CB3-9822-21EF5AB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2915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현재 범위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✓ 위치와 개수 탐지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× 알약 종류 식별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× 불량·손상 판정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× 픽셀 단위 segmentation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76259BB6-30CA-4096-B70D-DD31BAC7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8912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05DD7-9F26-403E-84EA-08FD293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COCO 사전학습 YOLOv8n을 30 epoch 미세조정했다</a:t>
            </a:r>
          </a:p>
        </p:txBody>
      </p:sp>
      <p:sp>
        <p:nvSpPr>
          <p:cNvPr id="2" name="training-curves-backing">
            <a:extLst xmlns:a="http://schemas.openxmlformats.org/drawingml/2006/main">
              <a:ext uri="{FF2B5EF4-FFF2-40B4-BE49-F238E27FC236}">
                <a16:creationId xmlns:a16="http://schemas.microsoft.com/office/drawing/2014/main" id="{80B2B869-C7DA-47CA-A9DD-63DE865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700087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e0bb5df5341cb"/>
          <a:stretch xmlns:a="http://schemas.openxmlformats.org/drawingml/2006/main"/>
        </p:blipFill>
        <p:spPr>
          <a:xfrm xmlns:a="http://schemas.openxmlformats.org/drawingml/2006/main">
            <a:off x="400050" y="1850231"/>
            <a:ext cx="7000875" cy="3500438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4" name="metric-p">
            <a:extLst xmlns:a="http://schemas.openxmlformats.org/drawingml/2006/main">
              <a:ext uri="{FF2B5EF4-FFF2-40B4-BE49-F238E27FC236}">
                <a16:creationId xmlns:a16="http://schemas.microsoft.com/office/drawing/2014/main" id="{9602FFA9-5FEB-4C76-A098-B33F5642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57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r">
            <a:extLst xmlns:a="http://schemas.openxmlformats.org/drawingml/2006/main">
              <a:ext uri="{FF2B5EF4-FFF2-40B4-BE49-F238E27FC236}">
                <a16:creationId xmlns:a16="http://schemas.microsoft.com/office/drawing/2014/main" id="{8D5CA232-DAA4-4B21-BE3F-0000DE3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57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-value">
            <a:extLst xmlns:a="http://schemas.openxmlformats.org/drawingml/2006/main">
              <a:ext uri="{FF2B5EF4-FFF2-40B4-BE49-F238E27FC236}">
                <a16:creationId xmlns:a16="http://schemas.microsoft.com/office/drawing/2014/main" id="{D284CDB4-2B1E-4BE9-9629-FBCE840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621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0.9906</a:t>
            </a:r>
          </a:p>
        </p:txBody>
      </p:sp>
      <p:sp>
        <p:nvSpPr>
          <p:cNvPr id="7" name="p-label">
            <a:extLst xmlns:a="http://schemas.openxmlformats.org/drawingml/2006/main">
              <a:ext uri="{FF2B5EF4-FFF2-40B4-BE49-F238E27FC236}">
                <a16:creationId xmlns:a16="http://schemas.microsoft.com/office/drawing/2014/main" id="{4A73910A-5C30-4206-B993-74CB850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Precision</a:t>
            </a:r>
          </a:p>
        </p:txBody>
      </p:sp>
      <p:sp>
        <p:nvSpPr>
          <p:cNvPr id="8" name="r-value">
            <a:extLst xmlns:a="http://schemas.openxmlformats.org/drawingml/2006/main">
              <a:ext uri="{FF2B5EF4-FFF2-40B4-BE49-F238E27FC236}">
                <a16:creationId xmlns:a16="http://schemas.microsoft.com/office/drawing/2014/main" id="{BA3E3F51-3F54-4DEC-AE53-63140EDE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A36A"/>
                </a:solidFill>
                <a:latin typeface="Malgun Gothic"/>
                <a:ea typeface="Malgun Gothic"/>
                <a:cs typeface="Malgun Gothic"/>
              </a:rPr>
              <a:t>0.9850</a:t>
            </a:r>
          </a:p>
        </p:txBody>
      </p:sp>
      <p:sp>
        <p:nvSpPr>
          <p:cNvPr id="9" name="r-label">
            <a:extLst xmlns:a="http://schemas.openxmlformats.org/drawingml/2006/main">
              <a:ext uri="{FF2B5EF4-FFF2-40B4-BE49-F238E27FC236}">
                <a16:creationId xmlns:a16="http://schemas.microsoft.com/office/drawing/2014/main" id="{AFFF56B5-8E10-4166-9208-279E4D66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Recall</a:t>
            </a:r>
          </a:p>
        </p:txBody>
      </p:sp>
      <p:sp>
        <p:nvSpPr>
          <p:cNvPr id="10" name="metric-map">
            <a:extLst xmlns:a="http://schemas.openxmlformats.org/drawingml/2006/main">
              <a:ext uri="{FF2B5EF4-FFF2-40B4-BE49-F238E27FC236}">
                <a16:creationId xmlns:a16="http://schemas.microsoft.com/office/drawing/2014/main" id="{96CFBC55-E19D-47E8-B19F-4AC9E97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38450"/>
            <a:ext cx="38385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p-value">
            <a:extLst xmlns:a="http://schemas.openxmlformats.org/drawingml/2006/main">
              <a:ext uri="{FF2B5EF4-FFF2-40B4-BE49-F238E27FC236}">
                <a16:creationId xmlns:a16="http://schemas.microsoft.com/office/drawing/2014/main" id="{B89F2680-F476-4C72-9286-F1AF2579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mAP50  0.9908</a:t>
            </a:r>
          </a:p>
        </p:txBody>
      </p:sp>
      <p:sp>
        <p:nvSpPr>
          <p:cNvPr id="12" name="map-note">
            <a:extLst xmlns:a="http://schemas.openxmlformats.org/drawingml/2006/main">
              <a:ext uri="{FF2B5EF4-FFF2-40B4-BE49-F238E27FC236}">
                <a16:creationId xmlns:a16="http://schemas.microsoft.com/office/drawing/2014/main" id="{B28FB72E-D8F4-494A-90EE-F3E8362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IoU ≥ 0.50에서 정답으로 보고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PR 곡선 아래 면적을 평균한 값</a:t>
            </a:r>
          </a:p>
        </p:txBody>
      </p:sp>
      <p:sp>
        <p:nvSpPr>
          <p:cNvPr id="13" name="strict">
            <a:extLst xmlns:a="http://schemas.openxmlformats.org/drawingml/2006/main">
              <a:ext uri="{FF2B5EF4-FFF2-40B4-BE49-F238E27FC236}">
                <a16:creationId xmlns:a16="http://schemas.microsoft.com/office/drawing/2014/main" id="{928F45D7-F0EF-4106-A796-FE06D31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3838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mAP50–95는 0.7946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→ 존재 탐지는 쉽지만, 박스를 더 정밀하게 맞추는 일은 어렵다.</a:t>
            </a:r>
          </a:p>
        </p:txBody>
      </p:sp>
      <p:sp>
        <p:nvSpPr>
          <p:cNvPr id="14" name="caveat">
            <a:extLst xmlns:a="http://schemas.openxmlformats.org/drawingml/2006/main">
              <a:ext uri="{FF2B5EF4-FFF2-40B4-BE49-F238E27FC236}">
                <a16:creationId xmlns:a16="http://schemas.microsoft.com/office/drawing/2014/main" id="{4CECB9C5-DD55-4D01-8CAD-590ACBD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67375"/>
            <a:ext cx="3838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F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F4444"/>
                </a:solidFill>
                <a:latin typeface="Malgun Gothic"/>
                <a:ea typeface="Malgun Gothic"/>
                <a:cs typeface="Malgun Gothic"/>
              </a:rPr>
              <a:t>별도 test set이 없어 실제 일반화 성능으로 단정할 수 없다.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8855D5DB-AA8F-43D8-A115-129CF69A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6897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E31E9-3B8B-4CD7-9849-8A83778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OpenCV bbox 뒤, 카운팅 정확도까지 따로 검증했다</a:t>
            </a:r>
          </a:p>
        </p:txBody>
      </p:sp>
      <p:sp>
        <p:nvSpPr>
          <p:cNvPr id="2" name="bbox-grid-backing">
            <a:extLst xmlns:a="http://schemas.openxmlformats.org/drawingml/2006/main">
              <a:ext uri="{FF2B5EF4-FFF2-40B4-BE49-F238E27FC236}">
                <a16:creationId xmlns:a16="http://schemas.microsoft.com/office/drawing/2014/main" id="{F45640F6-71C4-4810-B934-EAF79B0D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4e84712b240fa"/>
          <a:stretch xmlns:a="http://schemas.openxmlformats.org/drawingml/2006/main"/>
        </p:blipFill>
        <p:spPr>
          <a:xfrm xmlns:a="http://schemas.openxmlformats.org/drawingml/2006/main">
            <a:off x="400050" y="1357357"/>
            <a:ext cx="11391900" cy="2333536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4" name="counting-evaluation-backing">
            <a:extLst xmlns:a="http://schemas.openxmlformats.org/drawingml/2006/main">
              <a:ext uri="{FF2B5EF4-FFF2-40B4-BE49-F238E27FC236}">
                <a16:creationId xmlns:a16="http://schemas.microsoft.com/office/drawing/2014/main" id="{E0181A65-F2A6-4F9D-BB98-A5371F04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6953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999bc2934ebf"/>
          <a:stretch xmlns:a="http://schemas.openxmlformats.org/drawingml/2006/main"/>
        </p:blipFill>
        <p:spPr>
          <a:xfrm xmlns:a="http://schemas.openxmlformats.org/drawingml/2006/main">
            <a:off x="1343264" y="4133850"/>
            <a:ext cx="5066822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6" name="count-summary">
            <a:extLst xmlns:a="http://schemas.openxmlformats.org/drawingml/2006/main">
              <a:ext uri="{FF2B5EF4-FFF2-40B4-BE49-F238E27FC236}">
                <a16:creationId xmlns:a16="http://schemas.microsoft.com/office/drawing/2014/main" id="{BA627251-3C10-4E83-AD95-83436117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3905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unt-mae">
            <a:extLst xmlns:a="http://schemas.openxmlformats.org/drawingml/2006/main">
              <a:ext uri="{FF2B5EF4-FFF2-40B4-BE49-F238E27FC236}">
                <a16:creationId xmlns:a16="http://schemas.microsoft.com/office/drawing/2014/main" id="{F755BA9E-830E-4AB7-8D3C-97B31537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MAE  0.522개</a:t>
            </a:r>
          </a:p>
        </p:txBody>
      </p:sp>
      <p:sp>
        <p:nvSpPr>
          <p:cNvPr id="8" name="count-exact">
            <a:extLst xmlns:a="http://schemas.openxmlformats.org/drawingml/2006/main">
              <a:ext uri="{FF2B5EF4-FFF2-40B4-BE49-F238E27FC236}">
                <a16:creationId xmlns:a16="http://schemas.microsoft.com/office/drawing/2014/main" id="{E1F8A9BD-C201-445B-8766-0C7AA75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292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정확 일치  56.5%</a:t>
            </a:r>
          </a:p>
        </p:txBody>
      </p:sp>
      <p:sp>
        <p:nvSpPr>
          <p:cNvPr id="9" name="opencv-code">
            <a:extLst xmlns:a="http://schemas.openxmlformats.org/drawingml/2006/main">
              <a:ext uri="{FF2B5EF4-FFF2-40B4-BE49-F238E27FC236}">
                <a16:creationId xmlns:a16="http://schemas.microsoft.com/office/drawing/2014/main" id="{E1D45B7F-84EE-4E49-985F-8AD9D31D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72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result.plot() 대신 xyxy·conf를 꺼내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cv2.rectangle / putText / imwrite 사용</a:t>
            </a:r>
          </a:p>
        </p:txBody>
      </p:sp>
      <p:sp>
        <p:nvSpPr>
          <p:cNvPr id="10" name="footer-4">
            <a:extLst xmlns:a="http://schemas.openxmlformats.org/drawingml/2006/main">
              <a:ext uri="{FF2B5EF4-FFF2-40B4-BE49-F238E27FC236}">
                <a16:creationId xmlns:a16="http://schemas.microsoft.com/office/drawing/2014/main" id="{465B7086-DC16-4439-9043-40208053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1614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5B418-2FE6-4018-AA33-2348B867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98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확장은 모델보다 ‘무엇을 구분할지’ 정하는 도메인 라벨에서 시작한다</a:t>
            </a:r>
          </a:p>
        </p:txBody>
      </p:sp>
      <p:sp>
        <p:nvSpPr>
          <p:cNvPr id="2" name="takeaway">
            <a:extLst xmlns:a="http://schemas.openxmlformats.org/drawingml/2006/main">
              <a:ext uri="{FF2B5EF4-FFF2-40B4-BE49-F238E27FC236}">
                <a16:creationId xmlns:a16="http://schemas.microsoft.com/office/drawing/2014/main" id="{1DB11E21-F578-467B-9E2B-C7B526FB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현재 모델은 공정한 출발점이다. 실제 제품으로 가려면 업무 실패 비용과 라벨 정의가 먼저다.</a:t>
            </a:r>
          </a:p>
        </p:txBody>
      </p:sp>
      <p:sp>
        <p:nvSpPr>
          <p:cNvPr id="3" name="roadmap-0">
            <a:extLst xmlns:a="http://schemas.openxmlformats.org/drawingml/2006/main">
              <a:ext uri="{FF2B5EF4-FFF2-40B4-BE49-F238E27FC236}">
                <a16:creationId xmlns:a16="http://schemas.microsoft.com/office/drawing/2014/main" id="{663B8D01-16BC-4143-B2CE-CE5B62A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36004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head-0">
            <a:extLst xmlns:a="http://schemas.openxmlformats.org/drawingml/2006/main">
              <a:ext uri="{FF2B5EF4-FFF2-40B4-BE49-F238E27FC236}">
                <a16:creationId xmlns:a16="http://schemas.microsoft.com/office/drawing/2014/main" id="{F4D211BB-7018-43C2-A8D6-755E6AC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7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NOW · Detection + Counting</a:t>
            </a:r>
          </a:p>
        </p:txBody>
      </p:sp>
      <p:sp>
        <p:nvSpPr>
          <p:cNvPr id="5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5254A07E-3C85-41CA-B657-4B20C2CC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14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필요 라벨: bbox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적용: 블리스터 누락·수량 확인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현재 평가: MAE 0.522개</a:t>
            </a:r>
          </a:p>
        </p:txBody>
      </p:sp>
      <p:sp>
        <p:nvSpPr>
          <p:cNvPr id="6" name="roadmap-1">
            <a:extLst xmlns:a="http://schemas.openxmlformats.org/drawingml/2006/main">
              <a:ext uri="{FF2B5EF4-FFF2-40B4-BE49-F238E27FC236}">
                <a16:creationId xmlns:a16="http://schemas.microsoft.com/office/drawing/2014/main" id="{0FE47BBB-AE85-42AB-A836-1A4EEC59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85950"/>
            <a:ext cx="36004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head-1">
            <a:extLst xmlns:a="http://schemas.openxmlformats.org/drawingml/2006/main">
              <a:ext uri="{FF2B5EF4-FFF2-40B4-BE49-F238E27FC236}">
                <a16:creationId xmlns:a16="http://schemas.microsoft.com/office/drawing/2014/main" id="{E31B3D4F-200B-49A7-8A82-82FBD7F6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NEXT · Pill-type Classification</a:t>
            </a:r>
          </a:p>
        </p:txBody>
      </p:sp>
      <p:sp>
        <p:nvSpPr>
          <p:cNvPr id="8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C91055EB-B76D-4A07-940C-C408E99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9900"/>
            <a:ext cx="314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필요 라벨: 알약 종류 ID, 각도·조명 다양성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구조: detect → crop → classify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적용: 조제·입고 보조</a:t>
            </a:r>
          </a:p>
        </p:txBody>
      </p:sp>
      <p:sp>
        <p:nvSpPr>
          <p:cNvPr id="9" name="roadmap-2">
            <a:extLst xmlns:a="http://schemas.openxmlformats.org/drawingml/2006/main">
              <a:ext uri="{FF2B5EF4-FFF2-40B4-BE49-F238E27FC236}">
                <a16:creationId xmlns:a16="http://schemas.microsoft.com/office/drawing/2014/main" id="{0AB8EFBC-5166-4E51-9596-BC8477F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6004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admap-head-2">
            <a:extLst xmlns:a="http://schemas.openxmlformats.org/drawingml/2006/main">
              <a:ext uri="{FF2B5EF4-FFF2-40B4-BE49-F238E27FC236}">
                <a16:creationId xmlns:a16="http://schemas.microsoft.com/office/drawing/2014/main" id="{73769F3A-4C3B-4E90-9821-4DD471A1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LATER · Segmentation / Defect</a:t>
            </a:r>
          </a:p>
        </p:txBody>
      </p:sp>
      <p:sp>
        <p:nvSpPr>
          <p:cNvPr id="11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63379CF9-0B3A-4E15-A817-A744BF15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314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필요 라벨: 픽셀 mask 또는 불량 유형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적용: 겹침 분리, 파손·오염 검사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현재 bbox 데이터만으로는 학습 불가</a:t>
            </a:r>
          </a:p>
        </p:txBody>
      </p:sp>
      <p:sp>
        <p:nvSpPr>
          <p:cNvPr id="12" name="domain-footer">
            <a:extLst xmlns:a="http://schemas.openxmlformats.org/drawingml/2006/main">
              <a:ext uri="{FF2B5EF4-FFF2-40B4-BE49-F238E27FC236}">
                <a16:creationId xmlns:a16="http://schemas.microsoft.com/office/drawing/2014/main" id="{FED55424-9C54-4A79-A228-FF435221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도메인 체크: 놓치면 더 위험한가(FN) · 잘못 잡으면 더 위험한가(FP) · 촬영 조건은 통제되는가 · 새 약/포장에 어떻게 적응할 것인가</a:t>
            </a:r>
          </a:p>
        </p:txBody>
      </p:sp>
      <p:sp>
        <p:nvSpPr>
          <p:cNvPr id="13" name="footer-5">
            <a:extLst xmlns:a="http://schemas.openxmlformats.org/drawingml/2006/main">
              <a:ext uri="{FF2B5EF4-FFF2-40B4-BE49-F238E27FC236}">
                <a16:creationId xmlns:a16="http://schemas.microsoft.com/office/drawing/2014/main" id="{59D31294-9D4C-412E-B1CD-898AB0A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9169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2026-07-18T13:04:39.7540000Z</dcterms:created>
  <dcterms:modified xsi:type="dcterms:W3CDTF">2026-07-18T13:04:39.7550000Z</dcterms:modified>
</coreProperties>
</file>